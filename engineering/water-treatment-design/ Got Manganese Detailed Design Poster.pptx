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27432000" cy="36576000"/>
  <p:notesSz cx="6858000" cy="9144000"/>
  <p:embeddedFontLst>
    <p:embeddedFont>
      <p:font typeface="Bebas Neue" panose="020B0606020202050201" pitchFamily="34" charset="77"/>
      <p:regular r:id="rId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1520">
          <p15:clr>
            <a:srgbClr val="747775"/>
          </p15:clr>
        </p15:guide>
        <p15:guide id="2" pos="86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9041298-D8AF-4598-B6C1-100240B4E3BE}">
  <a:tblStyle styleId="{B9041298-D8AF-4598-B6C1-100240B4E3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" d="100"/>
          <a:sy n="19" d="100"/>
        </p:scale>
        <p:origin x="3280" y="360"/>
      </p:cViewPr>
      <p:guideLst>
        <p:guide orient="horz" pos="11520"/>
        <p:guide pos="86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43441" y="685800"/>
            <a:ext cx="2571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b623d69f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b623d69f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35125" y="5294756"/>
            <a:ext cx="25561800" cy="14596200"/>
          </a:xfrm>
          <a:prstGeom prst="rect">
            <a:avLst/>
          </a:prstGeom>
        </p:spPr>
        <p:txBody>
          <a:bodyPr spcFirstLastPara="1" wrap="square" lIns="380750" tIns="380750" rIns="380750" bIns="3807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700"/>
              <a:buNone/>
              <a:defRPr sz="21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700"/>
              <a:buNone/>
              <a:defRPr sz="217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700"/>
              <a:buNone/>
              <a:defRPr sz="217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700"/>
              <a:buNone/>
              <a:defRPr sz="217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700"/>
              <a:buNone/>
              <a:defRPr sz="217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700"/>
              <a:buNone/>
              <a:defRPr sz="217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700"/>
              <a:buNone/>
              <a:defRPr sz="217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700"/>
              <a:buNone/>
              <a:defRPr sz="217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700"/>
              <a:buNone/>
              <a:defRPr sz="217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35100" y="20153778"/>
            <a:ext cx="25561800" cy="5636400"/>
          </a:xfrm>
          <a:prstGeom prst="rect">
            <a:avLst/>
          </a:prstGeom>
        </p:spPr>
        <p:txBody>
          <a:bodyPr spcFirstLastPara="1" wrap="square" lIns="380750" tIns="380750" rIns="380750" bIns="3807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25417373" y="33160653"/>
            <a:ext cx="1646400" cy="2799000"/>
          </a:xfrm>
          <a:prstGeom prst="rect">
            <a:avLst/>
          </a:prstGeom>
        </p:spPr>
        <p:txBody>
          <a:bodyPr spcFirstLastPara="1" wrap="square" lIns="380750" tIns="380750" rIns="380750" bIns="380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935100" y="15294933"/>
            <a:ext cx="25561800" cy="5986200"/>
          </a:xfrm>
          <a:prstGeom prst="rect">
            <a:avLst/>
          </a:prstGeom>
        </p:spPr>
        <p:txBody>
          <a:bodyPr spcFirstLastPara="1" wrap="square" lIns="380750" tIns="380750" rIns="380750" bIns="3807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25417373" y="33160653"/>
            <a:ext cx="1646400" cy="2799000"/>
          </a:xfrm>
          <a:prstGeom prst="rect">
            <a:avLst/>
          </a:prstGeom>
        </p:spPr>
        <p:txBody>
          <a:bodyPr spcFirstLastPara="1" wrap="square" lIns="380750" tIns="380750" rIns="380750" bIns="380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935100" y="3164622"/>
            <a:ext cx="25561800" cy="4072200"/>
          </a:xfrm>
          <a:prstGeom prst="rect">
            <a:avLst/>
          </a:prstGeom>
        </p:spPr>
        <p:txBody>
          <a:bodyPr spcFirstLastPara="1" wrap="square" lIns="380750" tIns="380750" rIns="380750" bIns="3807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7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935100" y="8195378"/>
            <a:ext cx="25561800" cy="24294300"/>
          </a:xfrm>
          <a:prstGeom prst="rect">
            <a:avLst/>
          </a:prstGeom>
        </p:spPr>
        <p:txBody>
          <a:bodyPr spcFirstLastPara="1" wrap="square" lIns="380750" tIns="380750" rIns="380750" bIns="380750" anchor="t" anchorCtr="0">
            <a:normAutofit/>
          </a:bodyPr>
          <a:lstStyle>
            <a:lvl1pPr marL="457200" lvl="0" indent="-704850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1pPr>
            <a:lvl2pPr marL="914400" lvl="1" indent="-596900">
              <a:spcBef>
                <a:spcPts val="0"/>
              </a:spcBef>
              <a:spcAft>
                <a:spcPts val="0"/>
              </a:spcAft>
              <a:buSzPts val="5800"/>
              <a:buChar char="○"/>
              <a:defRPr/>
            </a:lvl2pPr>
            <a:lvl3pPr marL="1371600" lvl="2" indent="-596900">
              <a:spcBef>
                <a:spcPts val="0"/>
              </a:spcBef>
              <a:spcAft>
                <a:spcPts val="0"/>
              </a:spcAft>
              <a:buSzPts val="5800"/>
              <a:buChar char="■"/>
              <a:defRPr/>
            </a:lvl3pPr>
            <a:lvl4pPr marL="1828800" lvl="3" indent="-596900">
              <a:spcBef>
                <a:spcPts val="0"/>
              </a:spcBef>
              <a:spcAft>
                <a:spcPts val="0"/>
              </a:spcAft>
              <a:buSzPts val="5800"/>
              <a:buChar char="●"/>
              <a:defRPr/>
            </a:lvl4pPr>
            <a:lvl5pPr marL="2286000" lvl="4" indent="-596900">
              <a:spcBef>
                <a:spcPts val="0"/>
              </a:spcBef>
              <a:spcAft>
                <a:spcPts val="0"/>
              </a:spcAft>
              <a:buSzPts val="5800"/>
              <a:buChar char="○"/>
              <a:defRPr/>
            </a:lvl5pPr>
            <a:lvl6pPr marL="2743200" lvl="5" indent="-596900">
              <a:spcBef>
                <a:spcPts val="0"/>
              </a:spcBef>
              <a:spcAft>
                <a:spcPts val="0"/>
              </a:spcAft>
              <a:buSzPts val="5800"/>
              <a:buChar char="■"/>
              <a:defRPr/>
            </a:lvl6pPr>
            <a:lvl7pPr marL="3200400" lvl="6" indent="-596900">
              <a:spcBef>
                <a:spcPts val="0"/>
              </a:spcBef>
              <a:spcAft>
                <a:spcPts val="0"/>
              </a:spcAft>
              <a:buSzPts val="5800"/>
              <a:buChar char="●"/>
              <a:defRPr/>
            </a:lvl7pPr>
            <a:lvl8pPr marL="3657600" lvl="7" indent="-596900">
              <a:spcBef>
                <a:spcPts val="0"/>
              </a:spcBef>
              <a:spcAft>
                <a:spcPts val="0"/>
              </a:spcAft>
              <a:buSzPts val="5800"/>
              <a:buChar char="○"/>
              <a:defRPr/>
            </a:lvl8pPr>
            <a:lvl9pPr marL="4114800" lvl="8" indent="-596900">
              <a:spcBef>
                <a:spcPts val="0"/>
              </a:spcBef>
              <a:spcAft>
                <a:spcPts val="0"/>
              </a:spcAft>
              <a:buSzPts val="58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5417373" y="33160653"/>
            <a:ext cx="1646400" cy="2799000"/>
          </a:xfrm>
          <a:prstGeom prst="rect">
            <a:avLst/>
          </a:prstGeom>
        </p:spPr>
        <p:txBody>
          <a:bodyPr spcFirstLastPara="1" wrap="square" lIns="380750" tIns="380750" rIns="380750" bIns="380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935100" y="3164622"/>
            <a:ext cx="25561800" cy="4072200"/>
          </a:xfrm>
          <a:prstGeom prst="rect">
            <a:avLst/>
          </a:prstGeom>
        </p:spPr>
        <p:txBody>
          <a:bodyPr spcFirstLastPara="1" wrap="square" lIns="380750" tIns="380750" rIns="380750" bIns="3807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935100" y="8195378"/>
            <a:ext cx="11999700" cy="24294300"/>
          </a:xfrm>
          <a:prstGeom prst="rect">
            <a:avLst/>
          </a:prstGeom>
        </p:spPr>
        <p:txBody>
          <a:bodyPr spcFirstLastPara="1" wrap="square" lIns="380750" tIns="380750" rIns="380750" bIns="380750" anchor="t" anchorCtr="0">
            <a:normAutofit/>
          </a:bodyPr>
          <a:lstStyle>
            <a:lvl1pPr marL="457200" lvl="0" indent="-596900">
              <a:spcBef>
                <a:spcPts val="0"/>
              </a:spcBef>
              <a:spcAft>
                <a:spcPts val="0"/>
              </a:spcAft>
              <a:buSzPts val="5800"/>
              <a:buChar char="●"/>
              <a:defRPr sz="5800"/>
            </a:lvl1pPr>
            <a:lvl2pPr marL="914400" lvl="1" indent="-546100">
              <a:spcBef>
                <a:spcPts val="0"/>
              </a:spcBef>
              <a:spcAft>
                <a:spcPts val="0"/>
              </a:spcAft>
              <a:buSzPts val="5000"/>
              <a:buChar char="○"/>
              <a:defRPr sz="5000"/>
            </a:lvl2pPr>
            <a:lvl3pPr marL="1371600" lvl="2" indent="-546100">
              <a:spcBef>
                <a:spcPts val="0"/>
              </a:spcBef>
              <a:spcAft>
                <a:spcPts val="0"/>
              </a:spcAft>
              <a:buSzPts val="5000"/>
              <a:buChar char="■"/>
              <a:defRPr sz="5000"/>
            </a:lvl3pPr>
            <a:lvl4pPr marL="1828800" lvl="3" indent="-546100">
              <a:spcBef>
                <a:spcPts val="0"/>
              </a:spcBef>
              <a:spcAft>
                <a:spcPts val="0"/>
              </a:spcAft>
              <a:buSzPts val="5000"/>
              <a:buChar char="●"/>
              <a:defRPr sz="5000"/>
            </a:lvl4pPr>
            <a:lvl5pPr marL="2286000" lvl="4" indent="-546100">
              <a:spcBef>
                <a:spcPts val="0"/>
              </a:spcBef>
              <a:spcAft>
                <a:spcPts val="0"/>
              </a:spcAft>
              <a:buSzPts val="5000"/>
              <a:buChar char="○"/>
              <a:defRPr sz="5000"/>
            </a:lvl5pPr>
            <a:lvl6pPr marL="2743200" lvl="5" indent="-546100">
              <a:spcBef>
                <a:spcPts val="0"/>
              </a:spcBef>
              <a:spcAft>
                <a:spcPts val="0"/>
              </a:spcAft>
              <a:buSzPts val="5000"/>
              <a:buChar char="■"/>
              <a:defRPr sz="5000"/>
            </a:lvl6pPr>
            <a:lvl7pPr marL="3200400" lvl="6" indent="-546100">
              <a:spcBef>
                <a:spcPts val="0"/>
              </a:spcBef>
              <a:spcAft>
                <a:spcPts val="0"/>
              </a:spcAft>
              <a:buSzPts val="5000"/>
              <a:buChar char="●"/>
              <a:defRPr sz="5000"/>
            </a:lvl7pPr>
            <a:lvl8pPr marL="3657600" lvl="7" indent="-546100">
              <a:spcBef>
                <a:spcPts val="0"/>
              </a:spcBef>
              <a:spcAft>
                <a:spcPts val="0"/>
              </a:spcAft>
              <a:buSzPts val="5000"/>
              <a:buChar char="○"/>
              <a:defRPr sz="5000"/>
            </a:lvl8pPr>
            <a:lvl9pPr marL="4114800" lvl="8" indent="-546100">
              <a:spcBef>
                <a:spcPts val="0"/>
              </a:spcBef>
              <a:spcAft>
                <a:spcPts val="0"/>
              </a:spcAft>
              <a:buSzPts val="5000"/>
              <a:buChar char="■"/>
              <a:defRPr sz="50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4497200" y="8195378"/>
            <a:ext cx="11999700" cy="24294300"/>
          </a:xfrm>
          <a:prstGeom prst="rect">
            <a:avLst/>
          </a:prstGeom>
        </p:spPr>
        <p:txBody>
          <a:bodyPr spcFirstLastPara="1" wrap="square" lIns="380750" tIns="380750" rIns="380750" bIns="380750" anchor="t" anchorCtr="0">
            <a:normAutofit/>
          </a:bodyPr>
          <a:lstStyle>
            <a:lvl1pPr marL="457200" lvl="0" indent="-596900">
              <a:spcBef>
                <a:spcPts val="0"/>
              </a:spcBef>
              <a:spcAft>
                <a:spcPts val="0"/>
              </a:spcAft>
              <a:buSzPts val="5800"/>
              <a:buChar char="●"/>
              <a:defRPr sz="5800"/>
            </a:lvl1pPr>
            <a:lvl2pPr marL="914400" lvl="1" indent="-546100">
              <a:spcBef>
                <a:spcPts val="0"/>
              </a:spcBef>
              <a:spcAft>
                <a:spcPts val="0"/>
              </a:spcAft>
              <a:buSzPts val="5000"/>
              <a:buChar char="○"/>
              <a:defRPr sz="5000"/>
            </a:lvl2pPr>
            <a:lvl3pPr marL="1371600" lvl="2" indent="-546100">
              <a:spcBef>
                <a:spcPts val="0"/>
              </a:spcBef>
              <a:spcAft>
                <a:spcPts val="0"/>
              </a:spcAft>
              <a:buSzPts val="5000"/>
              <a:buChar char="■"/>
              <a:defRPr sz="5000"/>
            </a:lvl3pPr>
            <a:lvl4pPr marL="1828800" lvl="3" indent="-546100">
              <a:spcBef>
                <a:spcPts val="0"/>
              </a:spcBef>
              <a:spcAft>
                <a:spcPts val="0"/>
              </a:spcAft>
              <a:buSzPts val="5000"/>
              <a:buChar char="●"/>
              <a:defRPr sz="5000"/>
            </a:lvl4pPr>
            <a:lvl5pPr marL="2286000" lvl="4" indent="-546100">
              <a:spcBef>
                <a:spcPts val="0"/>
              </a:spcBef>
              <a:spcAft>
                <a:spcPts val="0"/>
              </a:spcAft>
              <a:buSzPts val="5000"/>
              <a:buChar char="○"/>
              <a:defRPr sz="5000"/>
            </a:lvl5pPr>
            <a:lvl6pPr marL="2743200" lvl="5" indent="-546100">
              <a:spcBef>
                <a:spcPts val="0"/>
              </a:spcBef>
              <a:spcAft>
                <a:spcPts val="0"/>
              </a:spcAft>
              <a:buSzPts val="5000"/>
              <a:buChar char="■"/>
              <a:defRPr sz="5000"/>
            </a:lvl6pPr>
            <a:lvl7pPr marL="3200400" lvl="6" indent="-546100">
              <a:spcBef>
                <a:spcPts val="0"/>
              </a:spcBef>
              <a:spcAft>
                <a:spcPts val="0"/>
              </a:spcAft>
              <a:buSzPts val="5000"/>
              <a:buChar char="●"/>
              <a:defRPr sz="5000"/>
            </a:lvl7pPr>
            <a:lvl8pPr marL="3657600" lvl="7" indent="-546100">
              <a:spcBef>
                <a:spcPts val="0"/>
              </a:spcBef>
              <a:spcAft>
                <a:spcPts val="0"/>
              </a:spcAft>
              <a:buSzPts val="5000"/>
              <a:buChar char="○"/>
              <a:defRPr sz="5000"/>
            </a:lvl8pPr>
            <a:lvl9pPr marL="4114800" lvl="8" indent="-546100">
              <a:spcBef>
                <a:spcPts val="0"/>
              </a:spcBef>
              <a:spcAft>
                <a:spcPts val="0"/>
              </a:spcAft>
              <a:buSzPts val="5000"/>
              <a:buChar char="■"/>
              <a:defRPr sz="50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25417373" y="33160653"/>
            <a:ext cx="1646400" cy="2799000"/>
          </a:xfrm>
          <a:prstGeom prst="rect">
            <a:avLst/>
          </a:prstGeom>
        </p:spPr>
        <p:txBody>
          <a:bodyPr spcFirstLastPara="1" wrap="square" lIns="380750" tIns="380750" rIns="380750" bIns="380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935100" y="3164622"/>
            <a:ext cx="25561800" cy="4072200"/>
          </a:xfrm>
          <a:prstGeom prst="rect">
            <a:avLst/>
          </a:prstGeom>
        </p:spPr>
        <p:txBody>
          <a:bodyPr spcFirstLastPara="1" wrap="square" lIns="380750" tIns="380750" rIns="380750" bIns="3807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25417373" y="33160653"/>
            <a:ext cx="1646400" cy="2799000"/>
          </a:xfrm>
          <a:prstGeom prst="rect">
            <a:avLst/>
          </a:prstGeom>
        </p:spPr>
        <p:txBody>
          <a:bodyPr spcFirstLastPara="1" wrap="square" lIns="380750" tIns="380750" rIns="380750" bIns="380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935100" y="3950933"/>
            <a:ext cx="8424000" cy="5373900"/>
          </a:xfrm>
          <a:prstGeom prst="rect">
            <a:avLst/>
          </a:prstGeom>
        </p:spPr>
        <p:txBody>
          <a:bodyPr spcFirstLastPara="1" wrap="square" lIns="380750" tIns="380750" rIns="380750" bIns="38075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935100" y="9881600"/>
            <a:ext cx="8424000" cy="22609500"/>
          </a:xfrm>
          <a:prstGeom prst="rect">
            <a:avLst/>
          </a:prstGeom>
        </p:spPr>
        <p:txBody>
          <a:bodyPr spcFirstLastPara="1" wrap="square" lIns="380750" tIns="380750" rIns="380750" bIns="380750" anchor="t" anchorCtr="0">
            <a:normAutofit/>
          </a:bodyPr>
          <a:lstStyle>
            <a:lvl1pPr marL="457200" lvl="0" indent="-546100">
              <a:spcBef>
                <a:spcPts val="0"/>
              </a:spcBef>
              <a:spcAft>
                <a:spcPts val="0"/>
              </a:spcAft>
              <a:buSzPts val="5000"/>
              <a:buChar char="●"/>
              <a:defRPr sz="5000"/>
            </a:lvl1pPr>
            <a:lvl2pPr marL="914400" lvl="1" indent="-546100">
              <a:spcBef>
                <a:spcPts val="0"/>
              </a:spcBef>
              <a:spcAft>
                <a:spcPts val="0"/>
              </a:spcAft>
              <a:buSzPts val="5000"/>
              <a:buChar char="○"/>
              <a:defRPr sz="5000"/>
            </a:lvl2pPr>
            <a:lvl3pPr marL="1371600" lvl="2" indent="-546100">
              <a:spcBef>
                <a:spcPts val="0"/>
              </a:spcBef>
              <a:spcAft>
                <a:spcPts val="0"/>
              </a:spcAft>
              <a:buSzPts val="5000"/>
              <a:buChar char="■"/>
              <a:defRPr sz="5000"/>
            </a:lvl3pPr>
            <a:lvl4pPr marL="1828800" lvl="3" indent="-546100">
              <a:spcBef>
                <a:spcPts val="0"/>
              </a:spcBef>
              <a:spcAft>
                <a:spcPts val="0"/>
              </a:spcAft>
              <a:buSzPts val="5000"/>
              <a:buChar char="●"/>
              <a:defRPr sz="5000"/>
            </a:lvl4pPr>
            <a:lvl5pPr marL="2286000" lvl="4" indent="-546100">
              <a:spcBef>
                <a:spcPts val="0"/>
              </a:spcBef>
              <a:spcAft>
                <a:spcPts val="0"/>
              </a:spcAft>
              <a:buSzPts val="5000"/>
              <a:buChar char="○"/>
              <a:defRPr sz="5000"/>
            </a:lvl5pPr>
            <a:lvl6pPr marL="2743200" lvl="5" indent="-546100">
              <a:spcBef>
                <a:spcPts val="0"/>
              </a:spcBef>
              <a:spcAft>
                <a:spcPts val="0"/>
              </a:spcAft>
              <a:buSzPts val="5000"/>
              <a:buChar char="■"/>
              <a:defRPr sz="5000"/>
            </a:lvl6pPr>
            <a:lvl7pPr marL="3200400" lvl="6" indent="-546100">
              <a:spcBef>
                <a:spcPts val="0"/>
              </a:spcBef>
              <a:spcAft>
                <a:spcPts val="0"/>
              </a:spcAft>
              <a:buSzPts val="5000"/>
              <a:buChar char="●"/>
              <a:defRPr sz="5000"/>
            </a:lvl7pPr>
            <a:lvl8pPr marL="3657600" lvl="7" indent="-546100">
              <a:spcBef>
                <a:spcPts val="0"/>
              </a:spcBef>
              <a:spcAft>
                <a:spcPts val="0"/>
              </a:spcAft>
              <a:buSzPts val="5000"/>
              <a:buChar char="○"/>
              <a:defRPr sz="5000"/>
            </a:lvl8pPr>
            <a:lvl9pPr marL="4114800" lvl="8" indent="-546100">
              <a:spcBef>
                <a:spcPts val="0"/>
              </a:spcBef>
              <a:spcAft>
                <a:spcPts val="0"/>
              </a:spcAft>
              <a:buSzPts val="5000"/>
              <a:buChar char="■"/>
              <a:defRPr sz="50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25417373" y="33160653"/>
            <a:ext cx="1646400" cy="2799000"/>
          </a:xfrm>
          <a:prstGeom prst="rect">
            <a:avLst/>
          </a:prstGeom>
        </p:spPr>
        <p:txBody>
          <a:bodyPr spcFirstLastPara="1" wrap="square" lIns="380750" tIns="380750" rIns="380750" bIns="380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470750" y="3201067"/>
            <a:ext cx="19103400" cy="29090100"/>
          </a:xfrm>
          <a:prstGeom prst="rect">
            <a:avLst/>
          </a:prstGeom>
        </p:spPr>
        <p:txBody>
          <a:bodyPr spcFirstLastPara="1" wrap="square" lIns="380750" tIns="380750" rIns="380750" bIns="38075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1pPr>
            <a:lvl2pPr lvl="1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2pPr>
            <a:lvl3pPr lvl="2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3pPr>
            <a:lvl4pPr lvl="3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4pPr>
            <a:lvl5pPr lvl="4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5pPr>
            <a:lvl6pPr lvl="5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6pPr>
            <a:lvl7pPr lvl="6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7pPr>
            <a:lvl8pPr lvl="7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8pPr>
            <a:lvl9pPr lvl="8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25417373" y="33160653"/>
            <a:ext cx="1646400" cy="2799000"/>
          </a:xfrm>
          <a:prstGeom prst="rect">
            <a:avLst/>
          </a:prstGeom>
        </p:spPr>
        <p:txBody>
          <a:bodyPr spcFirstLastPara="1" wrap="square" lIns="380750" tIns="380750" rIns="380750" bIns="380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3716000" y="-889"/>
            <a:ext cx="13716000" cy="365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380750" tIns="380750" rIns="380750" bIns="3807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796500" y="8769244"/>
            <a:ext cx="12135900" cy="10540500"/>
          </a:xfrm>
          <a:prstGeom prst="rect">
            <a:avLst/>
          </a:prstGeom>
        </p:spPr>
        <p:txBody>
          <a:bodyPr spcFirstLastPara="1" wrap="square" lIns="380750" tIns="380750" rIns="380750" bIns="3807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500"/>
              <a:buNone/>
              <a:defRPr sz="1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7500"/>
              <a:buNone/>
              <a:defRPr sz="17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7500"/>
              <a:buNone/>
              <a:defRPr sz="17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7500"/>
              <a:buNone/>
              <a:defRPr sz="17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7500"/>
              <a:buNone/>
              <a:defRPr sz="17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7500"/>
              <a:buNone/>
              <a:defRPr sz="17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7500"/>
              <a:buNone/>
              <a:defRPr sz="17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7500"/>
              <a:buNone/>
              <a:defRPr sz="17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7500"/>
              <a:buNone/>
              <a:defRPr sz="175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796500" y="19932978"/>
            <a:ext cx="12135900" cy="8782500"/>
          </a:xfrm>
          <a:prstGeom prst="rect">
            <a:avLst/>
          </a:prstGeom>
        </p:spPr>
        <p:txBody>
          <a:bodyPr spcFirstLastPara="1" wrap="square" lIns="380750" tIns="380750" rIns="380750" bIns="3807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4818500" y="5148978"/>
            <a:ext cx="11511000" cy="26276400"/>
          </a:xfrm>
          <a:prstGeom prst="rect">
            <a:avLst/>
          </a:prstGeom>
        </p:spPr>
        <p:txBody>
          <a:bodyPr spcFirstLastPara="1" wrap="square" lIns="380750" tIns="380750" rIns="380750" bIns="380750" anchor="ctr" anchorCtr="0">
            <a:normAutofit/>
          </a:bodyPr>
          <a:lstStyle>
            <a:lvl1pPr marL="457200" lvl="0" indent="-704850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1pPr>
            <a:lvl2pPr marL="914400" lvl="1" indent="-596900">
              <a:spcBef>
                <a:spcPts val="0"/>
              </a:spcBef>
              <a:spcAft>
                <a:spcPts val="0"/>
              </a:spcAft>
              <a:buSzPts val="5800"/>
              <a:buChar char="○"/>
              <a:defRPr/>
            </a:lvl2pPr>
            <a:lvl3pPr marL="1371600" lvl="2" indent="-596900">
              <a:spcBef>
                <a:spcPts val="0"/>
              </a:spcBef>
              <a:spcAft>
                <a:spcPts val="0"/>
              </a:spcAft>
              <a:buSzPts val="5800"/>
              <a:buChar char="■"/>
              <a:defRPr/>
            </a:lvl3pPr>
            <a:lvl4pPr marL="1828800" lvl="3" indent="-596900">
              <a:spcBef>
                <a:spcPts val="0"/>
              </a:spcBef>
              <a:spcAft>
                <a:spcPts val="0"/>
              </a:spcAft>
              <a:buSzPts val="5800"/>
              <a:buChar char="●"/>
              <a:defRPr/>
            </a:lvl4pPr>
            <a:lvl5pPr marL="2286000" lvl="4" indent="-596900">
              <a:spcBef>
                <a:spcPts val="0"/>
              </a:spcBef>
              <a:spcAft>
                <a:spcPts val="0"/>
              </a:spcAft>
              <a:buSzPts val="5800"/>
              <a:buChar char="○"/>
              <a:defRPr/>
            </a:lvl5pPr>
            <a:lvl6pPr marL="2743200" lvl="5" indent="-596900">
              <a:spcBef>
                <a:spcPts val="0"/>
              </a:spcBef>
              <a:spcAft>
                <a:spcPts val="0"/>
              </a:spcAft>
              <a:buSzPts val="5800"/>
              <a:buChar char="■"/>
              <a:defRPr/>
            </a:lvl6pPr>
            <a:lvl7pPr marL="3200400" lvl="6" indent="-596900">
              <a:spcBef>
                <a:spcPts val="0"/>
              </a:spcBef>
              <a:spcAft>
                <a:spcPts val="0"/>
              </a:spcAft>
              <a:buSzPts val="5800"/>
              <a:buChar char="●"/>
              <a:defRPr/>
            </a:lvl7pPr>
            <a:lvl8pPr marL="3657600" lvl="7" indent="-596900">
              <a:spcBef>
                <a:spcPts val="0"/>
              </a:spcBef>
              <a:spcAft>
                <a:spcPts val="0"/>
              </a:spcAft>
              <a:buSzPts val="5800"/>
              <a:buChar char="○"/>
              <a:defRPr/>
            </a:lvl8pPr>
            <a:lvl9pPr marL="4114800" lvl="8" indent="-596900">
              <a:spcBef>
                <a:spcPts val="0"/>
              </a:spcBef>
              <a:spcAft>
                <a:spcPts val="0"/>
              </a:spcAft>
              <a:buSzPts val="58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25417373" y="33160653"/>
            <a:ext cx="1646400" cy="2799000"/>
          </a:xfrm>
          <a:prstGeom prst="rect">
            <a:avLst/>
          </a:prstGeom>
        </p:spPr>
        <p:txBody>
          <a:bodyPr spcFirstLastPara="1" wrap="square" lIns="380750" tIns="380750" rIns="380750" bIns="380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935100" y="30084089"/>
            <a:ext cx="17996400" cy="4303200"/>
          </a:xfrm>
          <a:prstGeom prst="rect">
            <a:avLst/>
          </a:prstGeom>
        </p:spPr>
        <p:txBody>
          <a:bodyPr spcFirstLastPara="1" wrap="square" lIns="380750" tIns="380750" rIns="380750" bIns="38075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25417373" y="33160653"/>
            <a:ext cx="1646400" cy="2799000"/>
          </a:xfrm>
          <a:prstGeom prst="rect">
            <a:avLst/>
          </a:prstGeom>
        </p:spPr>
        <p:txBody>
          <a:bodyPr spcFirstLastPara="1" wrap="square" lIns="380750" tIns="380750" rIns="380750" bIns="380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935100" y="7865778"/>
            <a:ext cx="25561800" cy="13962600"/>
          </a:xfrm>
          <a:prstGeom prst="rect">
            <a:avLst/>
          </a:prstGeom>
        </p:spPr>
        <p:txBody>
          <a:bodyPr spcFirstLastPara="1" wrap="square" lIns="380750" tIns="380750" rIns="380750" bIns="3807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9900"/>
              <a:buNone/>
              <a:defRPr sz="49900"/>
            </a:lvl1pPr>
            <a:lvl2pPr lvl="1" algn="ctr">
              <a:spcBef>
                <a:spcPts val="0"/>
              </a:spcBef>
              <a:spcAft>
                <a:spcPts val="0"/>
              </a:spcAft>
              <a:buSzPts val="49900"/>
              <a:buNone/>
              <a:defRPr sz="49900"/>
            </a:lvl2pPr>
            <a:lvl3pPr lvl="2" algn="ctr">
              <a:spcBef>
                <a:spcPts val="0"/>
              </a:spcBef>
              <a:spcAft>
                <a:spcPts val="0"/>
              </a:spcAft>
              <a:buSzPts val="49900"/>
              <a:buNone/>
              <a:defRPr sz="49900"/>
            </a:lvl3pPr>
            <a:lvl4pPr lvl="3" algn="ctr">
              <a:spcBef>
                <a:spcPts val="0"/>
              </a:spcBef>
              <a:spcAft>
                <a:spcPts val="0"/>
              </a:spcAft>
              <a:buSzPts val="49900"/>
              <a:buNone/>
              <a:defRPr sz="49900"/>
            </a:lvl4pPr>
            <a:lvl5pPr lvl="4" algn="ctr">
              <a:spcBef>
                <a:spcPts val="0"/>
              </a:spcBef>
              <a:spcAft>
                <a:spcPts val="0"/>
              </a:spcAft>
              <a:buSzPts val="49900"/>
              <a:buNone/>
              <a:defRPr sz="49900"/>
            </a:lvl5pPr>
            <a:lvl6pPr lvl="5" algn="ctr">
              <a:spcBef>
                <a:spcPts val="0"/>
              </a:spcBef>
              <a:spcAft>
                <a:spcPts val="0"/>
              </a:spcAft>
              <a:buSzPts val="49900"/>
              <a:buNone/>
              <a:defRPr sz="49900"/>
            </a:lvl6pPr>
            <a:lvl7pPr lvl="6" algn="ctr">
              <a:spcBef>
                <a:spcPts val="0"/>
              </a:spcBef>
              <a:spcAft>
                <a:spcPts val="0"/>
              </a:spcAft>
              <a:buSzPts val="49900"/>
              <a:buNone/>
              <a:defRPr sz="49900"/>
            </a:lvl7pPr>
            <a:lvl8pPr lvl="7" algn="ctr">
              <a:spcBef>
                <a:spcPts val="0"/>
              </a:spcBef>
              <a:spcAft>
                <a:spcPts val="0"/>
              </a:spcAft>
              <a:buSzPts val="49900"/>
              <a:buNone/>
              <a:defRPr sz="49900"/>
            </a:lvl8pPr>
            <a:lvl9pPr lvl="8" algn="ctr">
              <a:spcBef>
                <a:spcPts val="0"/>
              </a:spcBef>
              <a:spcAft>
                <a:spcPts val="0"/>
              </a:spcAft>
              <a:buSzPts val="49900"/>
              <a:buNone/>
              <a:defRPr sz="499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935100" y="22415822"/>
            <a:ext cx="25561800" cy="9250200"/>
          </a:xfrm>
          <a:prstGeom prst="rect">
            <a:avLst/>
          </a:prstGeom>
        </p:spPr>
        <p:txBody>
          <a:bodyPr spcFirstLastPara="1" wrap="square" lIns="380750" tIns="380750" rIns="380750" bIns="380750" anchor="t" anchorCtr="0">
            <a:normAutofit/>
          </a:bodyPr>
          <a:lstStyle>
            <a:lvl1pPr marL="457200" lvl="0" indent="-704850" algn="ctr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1pPr>
            <a:lvl2pPr marL="914400" lvl="1" indent="-596900" algn="ctr">
              <a:spcBef>
                <a:spcPts val="0"/>
              </a:spcBef>
              <a:spcAft>
                <a:spcPts val="0"/>
              </a:spcAft>
              <a:buSzPts val="5800"/>
              <a:buChar char="○"/>
              <a:defRPr/>
            </a:lvl2pPr>
            <a:lvl3pPr marL="1371600" lvl="2" indent="-596900" algn="ctr">
              <a:spcBef>
                <a:spcPts val="0"/>
              </a:spcBef>
              <a:spcAft>
                <a:spcPts val="0"/>
              </a:spcAft>
              <a:buSzPts val="5800"/>
              <a:buChar char="■"/>
              <a:defRPr/>
            </a:lvl3pPr>
            <a:lvl4pPr marL="1828800" lvl="3" indent="-596900" algn="ctr">
              <a:spcBef>
                <a:spcPts val="0"/>
              </a:spcBef>
              <a:spcAft>
                <a:spcPts val="0"/>
              </a:spcAft>
              <a:buSzPts val="5800"/>
              <a:buChar char="●"/>
              <a:defRPr/>
            </a:lvl4pPr>
            <a:lvl5pPr marL="2286000" lvl="4" indent="-596900" algn="ctr">
              <a:spcBef>
                <a:spcPts val="0"/>
              </a:spcBef>
              <a:spcAft>
                <a:spcPts val="0"/>
              </a:spcAft>
              <a:buSzPts val="5800"/>
              <a:buChar char="○"/>
              <a:defRPr/>
            </a:lvl5pPr>
            <a:lvl6pPr marL="2743200" lvl="5" indent="-596900" algn="ctr">
              <a:spcBef>
                <a:spcPts val="0"/>
              </a:spcBef>
              <a:spcAft>
                <a:spcPts val="0"/>
              </a:spcAft>
              <a:buSzPts val="5800"/>
              <a:buChar char="■"/>
              <a:defRPr/>
            </a:lvl6pPr>
            <a:lvl7pPr marL="3200400" lvl="6" indent="-596900" algn="ctr">
              <a:spcBef>
                <a:spcPts val="0"/>
              </a:spcBef>
              <a:spcAft>
                <a:spcPts val="0"/>
              </a:spcAft>
              <a:buSzPts val="5800"/>
              <a:buChar char="●"/>
              <a:defRPr/>
            </a:lvl7pPr>
            <a:lvl8pPr marL="3657600" lvl="7" indent="-596900" algn="ctr">
              <a:spcBef>
                <a:spcPts val="0"/>
              </a:spcBef>
              <a:spcAft>
                <a:spcPts val="0"/>
              </a:spcAft>
              <a:buSzPts val="5800"/>
              <a:buChar char="○"/>
              <a:defRPr/>
            </a:lvl8pPr>
            <a:lvl9pPr marL="4114800" lvl="8" indent="-596900" algn="ctr">
              <a:spcBef>
                <a:spcPts val="0"/>
              </a:spcBef>
              <a:spcAft>
                <a:spcPts val="0"/>
              </a:spcAft>
              <a:buSzPts val="58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25417373" y="33160653"/>
            <a:ext cx="1646400" cy="2799000"/>
          </a:xfrm>
          <a:prstGeom prst="rect">
            <a:avLst/>
          </a:prstGeom>
        </p:spPr>
        <p:txBody>
          <a:bodyPr spcFirstLastPara="1" wrap="square" lIns="380750" tIns="380750" rIns="380750" bIns="380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25417373" y="33160653"/>
            <a:ext cx="1646400" cy="2799000"/>
          </a:xfrm>
          <a:prstGeom prst="rect">
            <a:avLst/>
          </a:prstGeom>
        </p:spPr>
        <p:txBody>
          <a:bodyPr spcFirstLastPara="1" wrap="square" lIns="380750" tIns="380750" rIns="380750" bIns="380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35100" y="3164622"/>
            <a:ext cx="25561800" cy="40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0750" tIns="380750" rIns="380750" bIns="3807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0"/>
              <a:buNone/>
              <a:defRPr sz="11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0"/>
              <a:buNone/>
              <a:defRPr sz="11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0"/>
              <a:buNone/>
              <a:defRPr sz="11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0"/>
              <a:buNone/>
              <a:defRPr sz="11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0"/>
              <a:buNone/>
              <a:defRPr sz="11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0"/>
              <a:buNone/>
              <a:defRPr sz="11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0"/>
              <a:buNone/>
              <a:defRPr sz="11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0"/>
              <a:buNone/>
              <a:defRPr sz="11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0"/>
              <a:buNone/>
              <a:defRPr sz="11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35100" y="8195378"/>
            <a:ext cx="25561800" cy="242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0750" tIns="380750" rIns="380750" bIns="380750" anchor="t" anchorCtr="0">
            <a:normAutofit/>
          </a:bodyPr>
          <a:lstStyle>
            <a:lvl1pPr marL="457200" lvl="0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1pPr>
            <a:lvl2pPr marL="914400" lvl="1" indent="-596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800"/>
              <a:buChar char="○"/>
              <a:defRPr sz="5800">
                <a:solidFill>
                  <a:schemeClr val="dk2"/>
                </a:solidFill>
              </a:defRPr>
            </a:lvl2pPr>
            <a:lvl3pPr marL="1371600" lvl="2" indent="-596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800"/>
              <a:buChar char="■"/>
              <a:defRPr sz="5800">
                <a:solidFill>
                  <a:schemeClr val="dk2"/>
                </a:solidFill>
              </a:defRPr>
            </a:lvl3pPr>
            <a:lvl4pPr marL="1828800" lvl="3" indent="-596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800"/>
              <a:buChar char="●"/>
              <a:defRPr sz="5800">
                <a:solidFill>
                  <a:schemeClr val="dk2"/>
                </a:solidFill>
              </a:defRPr>
            </a:lvl4pPr>
            <a:lvl5pPr marL="2286000" lvl="4" indent="-596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800"/>
              <a:buChar char="○"/>
              <a:defRPr sz="5800">
                <a:solidFill>
                  <a:schemeClr val="dk2"/>
                </a:solidFill>
              </a:defRPr>
            </a:lvl5pPr>
            <a:lvl6pPr marL="2743200" lvl="5" indent="-596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800"/>
              <a:buChar char="■"/>
              <a:defRPr sz="5800">
                <a:solidFill>
                  <a:schemeClr val="dk2"/>
                </a:solidFill>
              </a:defRPr>
            </a:lvl6pPr>
            <a:lvl7pPr marL="3200400" lvl="6" indent="-596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800"/>
              <a:buChar char="●"/>
              <a:defRPr sz="5800">
                <a:solidFill>
                  <a:schemeClr val="dk2"/>
                </a:solidFill>
              </a:defRPr>
            </a:lvl7pPr>
            <a:lvl8pPr marL="3657600" lvl="7" indent="-596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800"/>
              <a:buChar char="○"/>
              <a:defRPr sz="5800">
                <a:solidFill>
                  <a:schemeClr val="dk2"/>
                </a:solidFill>
              </a:defRPr>
            </a:lvl8pPr>
            <a:lvl9pPr marL="4114800" lvl="8" indent="-596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800"/>
              <a:buChar char="■"/>
              <a:defRPr sz="5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5417373" y="33160653"/>
            <a:ext cx="1646400" cy="27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0750" tIns="380750" rIns="380750" bIns="380750" anchor="ctr" anchorCtr="0">
            <a:normAutofit/>
          </a:bodyPr>
          <a:lstStyle>
            <a:lvl1pPr lvl="0" algn="r">
              <a:buNone/>
              <a:defRPr sz="4200">
                <a:solidFill>
                  <a:schemeClr val="dk2"/>
                </a:solidFill>
              </a:defRPr>
            </a:lvl1pPr>
            <a:lvl2pPr lvl="1" algn="r">
              <a:buNone/>
              <a:defRPr sz="4200">
                <a:solidFill>
                  <a:schemeClr val="dk2"/>
                </a:solidFill>
              </a:defRPr>
            </a:lvl2pPr>
            <a:lvl3pPr lvl="2" algn="r">
              <a:buNone/>
              <a:defRPr sz="4200">
                <a:solidFill>
                  <a:schemeClr val="dk2"/>
                </a:solidFill>
              </a:defRPr>
            </a:lvl3pPr>
            <a:lvl4pPr lvl="3" algn="r">
              <a:buNone/>
              <a:defRPr sz="4200">
                <a:solidFill>
                  <a:schemeClr val="dk2"/>
                </a:solidFill>
              </a:defRPr>
            </a:lvl4pPr>
            <a:lvl5pPr lvl="4" algn="r">
              <a:buNone/>
              <a:defRPr sz="4200">
                <a:solidFill>
                  <a:schemeClr val="dk2"/>
                </a:solidFill>
              </a:defRPr>
            </a:lvl5pPr>
            <a:lvl6pPr lvl="5" algn="r">
              <a:buNone/>
              <a:defRPr sz="4200">
                <a:solidFill>
                  <a:schemeClr val="dk2"/>
                </a:solidFill>
              </a:defRPr>
            </a:lvl6pPr>
            <a:lvl7pPr lvl="6" algn="r">
              <a:buNone/>
              <a:defRPr sz="4200">
                <a:solidFill>
                  <a:schemeClr val="dk2"/>
                </a:solidFill>
              </a:defRPr>
            </a:lvl7pPr>
            <a:lvl8pPr lvl="7" algn="r">
              <a:buNone/>
              <a:defRPr sz="4200">
                <a:solidFill>
                  <a:schemeClr val="dk2"/>
                </a:solidFill>
              </a:defRPr>
            </a:lvl8pPr>
            <a:lvl9pPr lvl="8" algn="r">
              <a:buNone/>
              <a:defRPr sz="42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38801" y="15833595"/>
            <a:ext cx="12344400" cy="66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1: MAXIMIZE SUSTAINABILITY.</a:t>
            </a:r>
            <a:endParaRPr sz="3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" sz="3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Envision framework</a:t>
            </a: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guides sustainable infrastructure projects.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Envision Performance of Proposed Project</a:t>
            </a: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419100" algn="l" rtl="0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" sz="3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chemical use</a:t>
            </a: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" sz="3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safer disinfection </a:t>
            </a: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performance in </a:t>
            </a:r>
            <a:r>
              <a:rPr lang="en" sz="3000" b="1">
                <a:solidFill>
                  <a:srgbClr val="E754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 of life</a:t>
            </a: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3000" b="1">
                <a:solidFill>
                  <a:srgbClr val="786E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leadership</a:t>
            </a: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" sz="3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3000" b="1">
                <a:solidFill>
                  <a:srgbClr val="589B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natural world</a:t>
            </a: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" sz="3000" b="1">
                <a:solidFill>
                  <a:srgbClr val="007B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climate and resilience</a:t>
            </a: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419100" algn="l" rtl="0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" sz="3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Solar panels</a:t>
            </a: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improve </a:t>
            </a:r>
            <a:r>
              <a:rPr lang="en" sz="3000" b="1">
                <a:solidFill>
                  <a:srgbClr val="866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 allocation</a:t>
            </a:r>
            <a:r>
              <a:rPr lang="en" sz="3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through renewable energy.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l="1821" t="6710" r="1821" b="2980"/>
          <a:stretch/>
        </p:blipFill>
        <p:spPr>
          <a:xfrm>
            <a:off x="691231" y="17339903"/>
            <a:ext cx="11839549" cy="36615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" name="Google Shape;56;p13"/>
          <p:cNvGraphicFramePr/>
          <p:nvPr/>
        </p:nvGraphicFramePr>
        <p:xfrm>
          <a:off x="14648794" y="19072876"/>
          <a:ext cx="6266675" cy="2095410"/>
        </p:xfrm>
        <a:graphic>
          <a:graphicData uri="http://schemas.openxmlformats.org/drawingml/2006/table">
            <a:tbl>
              <a:tblPr>
                <a:noFill/>
                <a:tableStyleId>{B9041298-D8AF-4598-B6C1-100240B4E3BE}</a:tableStyleId>
              </a:tblPr>
              <a:tblGrid>
                <a:gridCol w="408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Capital cost</a:t>
                      </a:r>
                      <a:endParaRPr sz="3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$153,793</a:t>
                      </a:r>
                      <a:endParaRPr sz="3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Capital cost includes aeration, baffles, storage building &amp; carrier water system, and tax &amp; contingency.</a:t>
                      </a:r>
                      <a:endParaRPr sz="115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Annual operational cost</a:t>
                      </a:r>
                      <a:endParaRPr sz="3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$2,130</a:t>
                      </a:r>
                      <a:endParaRPr sz="3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50-year NPV</a:t>
                      </a:r>
                      <a:endParaRPr sz="3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$183,190 </a:t>
                      </a:r>
                      <a:endParaRPr sz="3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7" name="Google Shape;57;p13"/>
          <p:cNvGrpSpPr/>
          <p:nvPr/>
        </p:nvGrpSpPr>
        <p:grpSpPr>
          <a:xfrm>
            <a:off x="438801" y="3005367"/>
            <a:ext cx="26554397" cy="961800"/>
            <a:chOff x="438800" y="3001644"/>
            <a:chExt cx="26554397" cy="9618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438800" y="3001644"/>
              <a:ext cx="12344400" cy="961800"/>
            </a:xfrm>
            <a:prstGeom prst="rect">
              <a:avLst/>
            </a:prstGeom>
            <a:solidFill>
              <a:srgbClr val="043673"/>
            </a:solidFill>
            <a:ln>
              <a:noFill/>
            </a:ln>
          </p:spPr>
          <p:txBody>
            <a:bodyPr spcFirstLastPara="1" wrap="square" lIns="79825" tIns="79825" rIns="79825" bIns="798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200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Problem definition</a:t>
              </a:r>
              <a:endParaRPr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" name="Google Shape;59;p13"/>
            <p:cNvSpPr txBox="1"/>
            <p:nvPr/>
          </p:nvSpPr>
          <p:spPr>
            <a:xfrm>
              <a:off x="14648797" y="3001644"/>
              <a:ext cx="12344400" cy="961800"/>
            </a:xfrm>
            <a:prstGeom prst="rect">
              <a:avLst/>
            </a:prstGeom>
            <a:solidFill>
              <a:srgbClr val="043673"/>
            </a:solidFill>
            <a:ln>
              <a:noFill/>
            </a:ln>
          </p:spPr>
          <p:txBody>
            <a:bodyPr spcFirstLastPara="1" wrap="square" lIns="79825" tIns="79825" rIns="79825" bIns="798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200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Design details</a:t>
              </a:r>
              <a:endParaRPr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60" name="Google Shape;60;p13"/>
          <p:cNvGrpSpPr/>
          <p:nvPr/>
        </p:nvGrpSpPr>
        <p:grpSpPr>
          <a:xfrm>
            <a:off x="438801" y="12178939"/>
            <a:ext cx="26554397" cy="2464800"/>
            <a:chOff x="438800" y="12075159"/>
            <a:chExt cx="26554397" cy="2464800"/>
          </a:xfrm>
        </p:grpSpPr>
        <p:sp>
          <p:nvSpPr>
            <p:cNvPr id="61" name="Google Shape;61;p13"/>
            <p:cNvSpPr/>
            <p:nvPr/>
          </p:nvSpPr>
          <p:spPr>
            <a:xfrm>
              <a:off x="438800" y="12075159"/>
              <a:ext cx="12344400" cy="24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CONSTRAINTS: </a:t>
              </a:r>
              <a:endParaRPr sz="3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4191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Times New Roman"/>
                <a:buChar char="●"/>
              </a:pPr>
              <a:r>
                <a:rPr lang="en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cost cannot exceed the </a:t>
              </a:r>
              <a:r>
                <a:rPr lang="en" sz="30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$3 million budget</a:t>
              </a:r>
              <a:r>
                <a:rPr lang="en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4191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Times New Roman"/>
                <a:buChar char="●"/>
              </a:pPr>
              <a:r>
                <a:rPr lang="en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treated water must </a:t>
              </a:r>
              <a:r>
                <a:rPr lang="en" sz="30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satisfy EPA regulations</a:t>
              </a:r>
              <a:r>
                <a:rPr lang="en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4191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Times New Roman"/>
                <a:buChar char="●"/>
              </a:pPr>
              <a:r>
                <a:rPr lang="en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design must account for </a:t>
              </a:r>
              <a:r>
                <a:rPr lang="en" sz="30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existing infrastructure and topography</a:t>
              </a:r>
              <a:r>
                <a:rPr lang="en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14648797" y="12075159"/>
              <a:ext cx="12344400" cy="24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228600" rIns="91425" bIns="2286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PROPOSED DESIGN MEETS ALL CONSTRAINTS.</a:t>
              </a:r>
              <a:endParaRPr sz="3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4191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Times New Roman"/>
                <a:buChar char="●"/>
              </a:pPr>
              <a:r>
                <a:rPr lang="en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50-year net present value (NPV) is estimated as </a:t>
              </a:r>
              <a:r>
                <a:rPr lang="en" sz="30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$183,190</a:t>
              </a:r>
              <a:r>
                <a:rPr lang="en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4191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Times New Roman"/>
                <a:buChar char="●"/>
              </a:pPr>
              <a:r>
                <a:rPr lang="en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Sufficient oxygen is provided to </a:t>
              </a:r>
              <a:r>
                <a:rPr lang="en" sz="30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immobilize metals below the EPA limit</a:t>
              </a:r>
              <a:r>
                <a:rPr lang="en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4191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Times New Roman"/>
                <a:buChar char="●"/>
              </a:pPr>
              <a:r>
                <a:rPr lang="en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design adds onto </a:t>
              </a:r>
              <a:r>
                <a:rPr lang="en" sz="30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existing infrastructure and topography</a:t>
              </a:r>
              <a:r>
                <a:rPr lang="en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63" name="Google Shape;63;p13"/>
          <p:cNvGrpSpPr/>
          <p:nvPr/>
        </p:nvGrpSpPr>
        <p:grpSpPr>
          <a:xfrm>
            <a:off x="438801" y="5428578"/>
            <a:ext cx="26554397" cy="6619656"/>
            <a:chOff x="438800" y="5358152"/>
            <a:chExt cx="26554397" cy="6619656"/>
          </a:xfrm>
        </p:grpSpPr>
        <p:cxnSp>
          <p:nvCxnSpPr>
            <p:cNvPr id="64" name="Google Shape;64;p13"/>
            <p:cNvCxnSpPr>
              <a:stCxn id="65" idx="2"/>
              <a:endCxn id="66" idx="1"/>
            </p:cNvCxnSpPr>
            <p:nvPr/>
          </p:nvCxnSpPr>
          <p:spPr>
            <a:xfrm rot="-5400000" flipH="1">
              <a:off x="3545000" y="9014030"/>
              <a:ext cx="1071600" cy="2844300"/>
            </a:xfrm>
            <a:prstGeom prst="bentConnector2">
              <a:avLst/>
            </a:prstGeom>
            <a:noFill/>
            <a:ln w="38100" cap="flat" cmpd="sng">
              <a:solidFill>
                <a:srgbClr val="009647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67" name="Google Shape;67;p13"/>
            <p:cNvCxnSpPr>
              <a:stCxn id="65" idx="0"/>
              <a:endCxn id="68" idx="1"/>
            </p:cNvCxnSpPr>
            <p:nvPr/>
          </p:nvCxnSpPr>
          <p:spPr>
            <a:xfrm rot="-5400000">
              <a:off x="3545000" y="5477630"/>
              <a:ext cx="1071600" cy="2844300"/>
            </a:xfrm>
            <a:prstGeom prst="bentConnector2">
              <a:avLst/>
            </a:prstGeom>
            <a:noFill/>
            <a:ln w="38100" cap="flat" cmpd="sng">
              <a:solidFill>
                <a:srgbClr val="EF3A47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69" name="Google Shape;69;p13"/>
            <p:cNvCxnSpPr>
              <a:stCxn id="65" idx="3"/>
              <a:endCxn id="70" idx="1"/>
            </p:cNvCxnSpPr>
            <p:nvPr/>
          </p:nvCxnSpPr>
          <p:spPr>
            <a:xfrm>
              <a:off x="4878500" y="8667980"/>
              <a:ext cx="624600" cy="0"/>
            </a:xfrm>
            <a:prstGeom prst="straightConnector1">
              <a:avLst/>
            </a:prstGeom>
            <a:noFill/>
            <a:ln w="38100" cap="flat" cmpd="sng">
              <a:solidFill>
                <a:srgbClr val="007BC0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grpSp>
          <p:nvGrpSpPr>
            <p:cNvPr id="71" name="Google Shape;71;p13"/>
            <p:cNvGrpSpPr/>
            <p:nvPr/>
          </p:nvGrpSpPr>
          <p:grpSpPr>
            <a:xfrm>
              <a:off x="5502950" y="5358152"/>
              <a:ext cx="21490247" cy="2011800"/>
              <a:chOff x="5502950" y="5358152"/>
              <a:chExt cx="21490247" cy="2011800"/>
            </a:xfrm>
          </p:grpSpPr>
          <p:sp>
            <p:nvSpPr>
              <p:cNvPr id="68" name="Google Shape;68;p13"/>
              <p:cNvSpPr/>
              <p:nvPr/>
            </p:nvSpPr>
            <p:spPr>
              <a:xfrm>
                <a:off x="5502950" y="5358152"/>
                <a:ext cx="7315200" cy="2011800"/>
              </a:xfrm>
              <a:prstGeom prst="rect">
                <a:avLst/>
              </a:prstGeom>
              <a:noFill/>
              <a:ln w="38100" cap="flat" cmpd="sng">
                <a:solidFill>
                  <a:srgbClr val="EF3A4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sz="3000"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SUBFUNCTION 1: </a:t>
                </a:r>
                <a:r>
                  <a:rPr lang="en" sz="3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Produce effluent with </a:t>
                </a:r>
                <a:r>
                  <a:rPr lang="en" sz="3000"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manganese </a:t>
                </a:r>
                <a:r>
                  <a:rPr lang="en" sz="3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concentration &lt; 0.05 mg/L.</a:t>
                </a:r>
                <a:endParaRPr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Codes: Safe Drinking Water Act (USEPA 2015)</a:t>
                </a:r>
                <a:endParaRPr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2" name="Google Shape;72;p13"/>
              <p:cNvGrpSpPr/>
              <p:nvPr/>
            </p:nvGrpSpPr>
            <p:grpSpPr>
              <a:xfrm>
                <a:off x="14648797" y="5358152"/>
                <a:ext cx="12344400" cy="2011800"/>
                <a:chOff x="14790225" y="5381081"/>
                <a:chExt cx="12344400" cy="2011800"/>
              </a:xfrm>
            </p:grpSpPr>
            <p:sp>
              <p:nvSpPr>
                <p:cNvPr id="73" name="Google Shape;73;p13"/>
                <p:cNvSpPr/>
                <p:nvPr/>
              </p:nvSpPr>
              <p:spPr>
                <a:xfrm>
                  <a:off x="14790225" y="5381081"/>
                  <a:ext cx="12344400" cy="2011800"/>
                </a:xfrm>
                <a:prstGeom prst="rect">
                  <a:avLst/>
                </a:prstGeom>
                <a:noFill/>
                <a:ln w="38100" cap="flat" cmpd="sng">
                  <a:solidFill>
                    <a:srgbClr val="EF3A47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" name="Google Shape;74;p13"/>
                <p:cNvSpPr txBox="1"/>
                <p:nvPr/>
              </p:nvSpPr>
              <p:spPr>
                <a:xfrm>
                  <a:off x="18237125" y="5472581"/>
                  <a:ext cx="8541900" cy="1828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3000" b="1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Solar-powered bottom-up aerators</a:t>
                  </a:r>
                  <a:r>
                    <a:rPr lang="en" sz="30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 are installed in the reservoir to prevent manganese mobilization. Dissolved oxygen sensors help optimize aerator operation.</a:t>
                  </a:r>
                  <a:endParaRPr sz="3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5" name="Google Shape;75;p13"/>
                <p:cNvGrpSpPr/>
                <p:nvPr/>
              </p:nvGrpSpPr>
              <p:grpSpPr>
                <a:xfrm>
                  <a:off x="14819172" y="5422839"/>
                  <a:ext cx="1779300" cy="1928284"/>
                  <a:chOff x="14819172" y="4331416"/>
                  <a:chExt cx="1779300" cy="1928284"/>
                </a:xfrm>
              </p:grpSpPr>
              <p:pic>
                <p:nvPicPr>
                  <p:cNvPr id="76" name="Google Shape;76;p13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l="33243" t="3078" r="46154" b="35710"/>
                  <a:stretch/>
                </p:blipFill>
                <p:spPr>
                  <a:xfrm>
                    <a:off x="15304657" y="4331416"/>
                    <a:ext cx="808330" cy="15544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77" name="Google Shape;77;p13"/>
                  <p:cNvSpPr txBox="1"/>
                  <p:nvPr/>
                </p:nvSpPr>
                <p:spPr>
                  <a:xfrm>
                    <a:off x="14819172" y="5890400"/>
                    <a:ext cx="1779300" cy="369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0" rIns="91425" bIns="0" anchor="ctr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Solar-powered aerator (ProLake 2024).</a:t>
                    </a:r>
                    <a:endParaRPr sz="12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78" name="Google Shape;78;p13"/>
                <p:cNvGrpSpPr/>
                <p:nvPr/>
              </p:nvGrpSpPr>
              <p:grpSpPr>
                <a:xfrm>
                  <a:off x="16598556" y="5423961"/>
                  <a:ext cx="1544700" cy="1926039"/>
                  <a:chOff x="16598556" y="4331415"/>
                  <a:chExt cx="1544700" cy="1926039"/>
                </a:xfrm>
              </p:grpSpPr>
              <p:pic>
                <p:nvPicPr>
                  <p:cNvPr id="79" name="Google Shape;79;p13"/>
                  <p:cNvPicPr preferRelativeResize="0"/>
                  <p:nvPr/>
                </p:nvPicPr>
                <p:blipFill>
                  <a:blip r:embed="rId5">
                    <a:alphaModFix/>
                  </a:blip>
                  <a:stretch>
                    <a:fillRect/>
                  </a:stretch>
                </p:blipFill>
                <p:spPr>
                  <a:xfrm>
                    <a:off x="16780204" y="4331415"/>
                    <a:ext cx="1181405" cy="15544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80" name="Google Shape;80;p13"/>
                  <p:cNvSpPr txBox="1"/>
                  <p:nvPr/>
                </p:nvSpPr>
                <p:spPr>
                  <a:xfrm>
                    <a:off x="16598556" y="5888154"/>
                    <a:ext cx="1544700" cy="369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0" rIns="91425" bIns="0" anchor="ctr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Aerator (Living Water Aeration 2024).</a:t>
                    </a:r>
                    <a:endParaRPr sz="12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81" name="Google Shape;81;p13"/>
            <p:cNvGrpSpPr/>
            <p:nvPr/>
          </p:nvGrpSpPr>
          <p:grpSpPr>
            <a:xfrm>
              <a:off x="438800" y="7435580"/>
              <a:ext cx="26554397" cy="2464800"/>
              <a:chOff x="438800" y="7435580"/>
              <a:chExt cx="26554397" cy="2464800"/>
            </a:xfrm>
          </p:grpSpPr>
          <p:sp>
            <p:nvSpPr>
              <p:cNvPr id="70" name="Google Shape;70;p13"/>
              <p:cNvSpPr/>
              <p:nvPr/>
            </p:nvSpPr>
            <p:spPr>
              <a:xfrm>
                <a:off x="5502950" y="7662080"/>
                <a:ext cx="7315200" cy="2011800"/>
              </a:xfrm>
              <a:prstGeom prst="rect">
                <a:avLst/>
              </a:prstGeom>
              <a:noFill/>
              <a:ln w="38100" cap="flat" cmpd="sng">
                <a:solidFill>
                  <a:srgbClr val="007BC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000"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SUBFUNCTION 2: </a:t>
                </a:r>
                <a:r>
                  <a:rPr lang="en" sz="3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Provide a safe </a:t>
                </a:r>
                <a:endParaRPr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location for </a:t>
                </a:r>
                <a:r>
                  <a:rPr lang="en" sz="3000"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chemical storage</a:t>
                </a:r>
                <a:r>
                  <a:rPr lang="en" sz="3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.</a:t>
                </a:r>
                <a:endParaRPr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Codes: National Fire Protection Association (NFPA)</a:t>
                </a:r>
                <a:endParaRPr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5" name="Google Shape;65;p13"/>
              <p:cNvSpPr/>
              <p:nvPr/>
            </p:nvSpPr>
            <p:spPr>
              <a:xfrm>
                <a:off x="438800" y="7435580"/>
                <a:ext cx="4439700" cy="2464800"/>
              </a:xfrm>
              <a:prstGeom prst="rect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3000"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FUNCTION: </a:t>
                </a:r>
                <a:r>
                  <a:rPr lang="en" sz="3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Treat and supply potable water to Bedford Borough.</a:t>
                </a:r>
                <a:endParaRPr sz="3000"/>
              </a:p>
            </p:txBody>
          </p:sp>
          <p:grpSp>
            <p:nvGrpSpPr>
              <p:cNvPr id="82" name="Google Shape;82;p13"/>
              <p:cNvGrpSpPr/>
              <p:nvPr/>
            </p:nvGrpSpPr>
            <p:grpSpPr>
              <a:xfrm>
                <a:off x="14648797" y="7662080"/>
                <a:ext cx="12344400" cy="2011800"/>
                <a:chOff x="14790225" y="7685008"/>
                <a:chExt cx="12344400" cy="2011800"/>
              </a:xfrm>
            </p:grpSpPr>
            <p:sp>
              <p:nvSpPr>
                <p:cNvPr id="83" name="Google Shape;83;p13"/>
                <p:cNvSpPr/>
                <p:nvPr/>
              </p:nvSpPr>
              <p:spPr>
                <a:xfrm>
                  <a:off x="14790225" y="7685008"/>
                  <a:ext cx="12344400" cy="2011800"/>
                </a:xfrm>
                <a:prstGeom prst="rect">
                  <a:avLst/>
                </a:prstGeom>
                <a:noFill/>
                <a:ln w="38100" cap="flat" cmpd="sng">
                  <a:solidFill>
                    <a:srgbClr val="007BC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" name="Google Shape;84;p13"/>
                <p:cNvSpPr txBox="1"/>
                <p:nvPr/>
              </p:nvSpPr>
              <p:spPr>
                <a:xfrm>
                  <a:off x="17741525" y="7776508"/>
                  <a:ext cx="9037500" cy="1828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30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A prefabricated </a:t>
                  </a:r>
                  <a:r>
                    <a:rPr lang="en" sz="3000" b="1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chemical storage building</a:t>
                  </a:r>
                  <a:r>
                    <a:rPr lang="en" sz="30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 is installed at the raw water site. A new </a:t>
                  </a:r>
                  <a:r>
                    <a:rPr lang="en" sz="3000" b="1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carrier water system</a:t>
                  </a:r>
                  <a:r>
                    <a:rPr lang="en" sz="30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 transports chemicals from the new building to their delivery points.</a:t>
                  </a:r>
                  <a:endParaRPr sz="3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85" name="Google Shape;85;p13"/>
                <p:cNvGrpSpPr/>
                <p:nvPr/>
              </p:nvGrpSpPr>
              <p:grpSpPr>
                <a:xfrm>
                  <a:off x="15145825" y="7794170"/>
                  <a:ext cx="1968000" cy="1793477"/>
                  <a:chOff x="15145825" y="9550498"/>
                  <a:chExt cx="1968000" cy="1793477"/>
                </a:xfrm>
              </p:grpSpPr>
              <p:pic>
                <p:nvPicPr>
                  <p:cNvPr id="86" name="Google Shape;86;p13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l="10770" t="17020" r="11914" b="16152"/>
                  <a:stretch/>
                </p:blipFill>
                <p:spPr>
                  <a:xfrm>
                    <a:off x="15305950" y="9550498"/>
                    <a:ext cx="1647750" cy="14241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87" name="Google Shape;87;p13"/>
                  <p:cNvSpPr txBox="1"/>
                  <p:nvPr/>
                </p:nvSpPr>
                <p:spPr>
                  <a:xfrm>
                    <a:off x="15145825" y="10974675"/>
                    <a:ext cx="1968000" cy="369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0" rIns="91425" bIns="0" anchor="ctr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Chemical storage cabinet (USA Safety 2024).</a:t>
                    </a:r>
                    <a:endParaRPr sz="12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88" name="Google Shape;88;p13"/>
            <p:cNvGrpSpPr/>
            <p:nvPr/>
          </p:nvGrpSpPr>
          <p:grpSpPr>
            <a:xfrm>
              <a:off x="5502950" y="9966008"/>
              <a:ext cx="21490247" cy="2011800"/>
              <a:chOff x="5502950" y="9966008"/>
              <a:chExt cx="21490247" cy="2011800"/>
            </a:xfrm>
          </p:grpSpPr>
          <p:sp>
            <p:nvSpPr>
              <p:cNvPr id="66" name="Google Shape;66;p13"/>
              <p:cNvSpPr/>
              <p:nvPr/>
            </p:nvSpPr>
            <p:spPr>
              <a:xfrm>
                <a:off x="5502950" y="9966008"/>
                <a:ext cx="7315200" cy="2011800"/>
              </a:xfrm>
              <a:prstGeom prst="rect">
                <a:avLst/>
              </a:prstGeom>
              <a:noFill/>
              <a:ln w="38100" cap="flat" cmpd="sng">
                <a:solidFill>
                  <a:srgbClr val="00964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000"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SUBFUNCTION 3: </a:t>
                </a:r>
                <a:r>
                  <a:rPr lang="en" sz="3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Provide a </a:t>
                </a:r>
                <a:endParaRPr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means for </a:t>
                </a:r>
                <a:r>
                  <a:rPr lang="en" sz="3000"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safe disinfection</a:t>
                </a:r>
                <a:r>
                  <a:rPr lang="en" sz="3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.</a:t>
                </a:r>
                <a:endParaRPr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Codes: 4-log removal of viruses guidelines (PA DEP 2015)</a:t>
                </a:r>
                <a:endParaRPr sz="20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89" name="Google Shape;89;p13"/>
              <p:cNvGrpSpPr/>
              <p:nvPr/>
            </p:nvGrpSpPr>
            <p:grpSpPr>
              <a:xfrm>
                <a:off x="14648797" y="9966008"/>
                <a:ext cx="12344400" cy="2011800"/>
                <a:chOff x="14790225" y="9988936"/>
                <a:chExt cx="12344400" cy="2011800"/>
              </a:xfrm>
            </p:grpSpPr>
            <p:sp>
              <p:nvSpPr>
                <p:cNvPr id="90" name="Google Shape;90;p13"/>
                <p:cNvSpPr/>
                <p:nvPr/>
              </p:nvSpPr>
              <p:spPr>
                <a:xfrm>
                  <a:off x="14790225" y="9988936"/>
                  <a:ext cx="12344400" cy="2011800"/>
                </a:xfrm>
                <a:prstGeom prst="rect">
                  <a:avLst/>
                </a:prstGeom>
                <a:noFill/>
                <a:ln w="38100" cap="flat" cmpd="sng">
                  <a:solidFill>
                    <a:srgbClr val="009647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009647"/>
                    </a:solidFill>
                  </a:endParaRPr>
                </a:p>
              </p:txBody>
            </p:sp>
            <p:sp>
              <p:nvSpPr>
                <p:cNvPr id="91" name="Google Shape;91;p13"/>
                <p:cNvSpPr txBox="1"/>
                <p:nvPr/>
              </p:nvSpPr>
              <p:spPr>
                <a:xfrm>
                  <a:off x="20039225" y="10080436"/>
                  <a:ext cx="6739800" cy="1828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3000" b="1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Baffles</a:t>
                  </a:r>
                  <a:r>
                    <a:rPr lang="en" sz="30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 are added to the reactor to improve disinfection efficiency. Chlorine gas is replaced with safer </a:t>
                  </a:r>
                  <a:r>
                    <a:rPr lang="en" sz="3000" b="1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sodium hypochlorite</a:t>
                  </a:r>
                  <a:r>
                    <a:rPr lang="en" sz="30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.</a:t>
                  </a:r>
                  <a:endParaRPr sz="3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92" name="Google Shape;92;p13"/>
                <p:cNvGrpSpPr/>
                <p:nvPr/>
              </p:nvGrpSpPr>
              <p:grpSpPr>
                <a:xfrm>
                  <a:off x="15145820" y="10070486"/>
                  <a:ext cx="4026103" cy="1848700"/>
                  <a:chOff x="15145820" y="6918333"/>
                  <a:chExt cx="4026103" cy="1848700"/>
                </a:xfrm>
              </p:grpSpPr>
              <p:pic>
                <p:nvPicPr>
                  <p:cNvPr id="93" name="Google Shape;93;p13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t="11846" b="14483"/>
                  <a:stretch/>
                </p:blipFill>
                <p:spPr>
                  <a:xfrm>
                    <a:off x="15145820" y="6918333"/>
                    <a:ext cx="4026103" cy="15544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94" name="Google Shape;94;p13"/>
                  <p:cNvSpPr txBox="1"/>
                  <p:nvPr/>
                </p:nvSpPr>
                <p:spPr>
                  <a:xfrm>
                    <a:off x="15145871" y="8473933"/>
                    <a:ext cx="4026000" cy="293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Baffle design, this proposal.</a:t>
                    </a:r>
                    <a:endParaRPr sz="12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</p:grpSp>
      <p:grpSp>
        <p:nvGrpSpPr>
          <p:cNvPr id="95" name="Google Shape;95;p13"/>
          <p:cNvGrpSpPr/>
          <p:nvPr/>
        </p:nvGrpSpPr>
        <p:grpSpPr>
          <a:xfrm>
            <a:off x="438801" y="4097873"/>
            <a:ext cx="26554397" cy="1200000"/>
            <a:chOff x="438800" y="4060801"/>
            <a:chExt cx="26554397" cy="1200000"/>
          </a:xfrm>
        </p:grpSpPr>
        <p:sp>
          <p:nvSpPr>
            <p:cNvPr id="96" name="Google Shape;96;p13"/>
            <p:cNvSpPr txBox="1"/>
            <p:nvPr/>
          </p:nvSpPr>
          <p:spPr>
            <a:xfrm>
              <a:off x="438800" y="4060801"/>
              <a:ext cx="12387900" cy="120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PROBLEM: </a:t>
              </a:r>
              <a:r>
                <a:rPr lang="en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Bedford Borough struggles with </a:t>
              </a:r>
              <a:r>
                <a:rPr lang="en" sz="30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high-manganese water</a:t>
              </a:r>
              <a:r>
                <a:rPr lang="en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</a:t>
              </a:r>
              <a:endParaRPr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uses </a:t>
              </a:r>
              <a:r>
                <a:rPr lang="en" sz="30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unsafe disinfection</a:t>
              </a:r>
              <a:r>
                <a:rPr lang="en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</a:t>
              </a:r>
              <a:r>
                <a:rPr lang="en" sz="30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and has </a:t>
              </a:r>
              <a:r>
                <a:rPr lang="en" sz="30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non-compliant chemical storage</a:t>
              </a:r>
              <a:r>
                <a:rPr lang="en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" name="Google Shape;97;p13"/>
            <p:cNvSpPr txBox="1"/>
            <p:nvPr/>
          </p:nvSpPr>
          <p:spPr>
            <a:xfrm>
              <a:off x="14605297" y="4060801"/>
              <a:ext cx="12387900" cy="120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SOLUTION: </a:t>
              </a:r>
              <a:r>
                <a:rPr lang="en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following components are proposed to mitigate </a:t>
              </a:r>
              <a:endParaRPr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problems at the Bedford Borough Water Treatment Plant.</a:t>
              </a:r>
              <a:endParaRPr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98" name="Google Shape;98;p13"/>
          <p:cNvSpPr txBox="1"/>
          <p:nvPr/>
        </p:nvSpPr>
        <p:spPr>
          <a:xfrm>
            <a:off x="457200" y="14774444"/>
            <a:ext cx="26517600" cy="961800"/>
          </a:xfrm>
          <a:prstGeom prst="rect">
            <a:avLst/>
          </a:prstGeom>
          <a:solidFill>
            <a:srgbClr val="043673"/>
          </a:solidFill>
          <a:ln>
            <a:noFill/>
          </a:ln>
        </p:spPr>
        <p:txBody>
          <a:bodyPr spcFirstLastPara="1" wrap="square" lIns="79825" tIns="79825" rIns="79825" bIns="798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Performance summary</a:t>
            </a:r>
            <a:endParaRPr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9" name="Google Shape;99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476323" y="17790184"/>
            <a:ext cx="5516875" cy="466080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/>
          <p:nvPr/>
        </p:nvSpPr>
        <p:spPr>
          <a:xfrm>
            <a:off x="14648799" y="15833595"/>
            <a:ext cx="12344400" cy="21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2: MINIMIZE COST.</a:t>
            </a:r>
            <a:endParaRPr sz="3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" sz="3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Baffles </a:t>
            </a: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 disinfection efficiency, lowering annual chemical costs.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" sz="3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Solar panels</a:t>
            </a: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eliminate annual electricity costs for aeration.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" sz="3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Prefabrication </a:t>
            </a: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lowers construction costs for the chemical storage building.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1" name="Google Shape;101;p13"/>
          <p:cNvPicPr preferRelativeResize="0"/>
          <p:nvPr/>
        </p:nvPicPr>
        <p:blipFill rotWithShape="1">
          <a:blip r:embed="rId9">
            <a:alphaModFix/>
          </a:blip>
          <a:srcRect t="8816" r="8408" b="381"/>
          <a:stretch/>
        </p:blipFill>
        <p:spPr>
          <a:xfrm>
            <a:off x="1571724" y="23566908"/>
            <a:ext cx="24288553" cy="10322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3"/>
          <p:cNvSpPr txBox="1"/>
          <p:nvPr/>
        </p:nvSpPr>
        <p:spPr>
          <a:xfrm>
            <a:off x="457200" y="22605100"/>
            <a:ext cx="26517600" cy="961800"/>
          </a:xfrm>
          <a:prstGeom prst="rect">
            <a:avLst/>
          </a:prstGeom>
          <a:solidFill>
            <a:srgbClr val="043673"/>
          </a:solidFill>
          <a:ln>
            <a:noFill/>
          </a:ln>
        </p:spPr>
        <p:txBody>
          <a:bodyPr spcFirstLastPara="1" wrap="square" lIns="79825" tIns="79825" rIns="79825" bIns="798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DESIGN OVERVIEW</a:t>
            </a:r>
            <a:endParaRPr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3" name="Google Shape;103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2948800" y="23566908"/>
            <a:ext cx="4026000" cy="302511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3"/>
          <p:cNvSpPr txBox="1"/>
          <p:nvPr/>
        </p:nvSpPr>
        <p:spPr>
          <a:xfrm>
            <a:off x="25087800" y="25853125"/>
            <a:ext cx="1887000" cy="73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EF3A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Diffusers</a:t>
            </a:r>
            <a:endParaRPr sz="1200" b="1">
              <a:solidFill>
                <a:srgbClr val="EF3A4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DB5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Solar-powered aerators</a:t>
            </a:r>
            <a:endParaRPr sz="1200" b="1">
              <a:solidFill>
                <a:srgbClr val="FDB5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7B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building</a:t>
            </a:r>
            <a:endParaRPr sz="1200" b="1">
              <a:solidFill>
                <a:srgbClr val="007B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96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Clearwell in treatment plant</a:t>
            </a:r>
            <a:endParaRPr sz="1200" b="1">
              <a:solidFill>
                <a:srgbClr val="00964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22948803" y="26592041"/>
            <a:ext cx="40260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Site map (Google Earth 2024).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6" name="Google Shape;106;p13"/>
          <p:cNvGrpSpPr/>
          <p:nvPr/>
        </p:nvGrpSpPr>
        <p:grpSpPr>
          <a:xfrm>
            <a:off x="-6" y="0"/>
            <a:ext cx="27432013" cy="2874662"/>
            <a:chOff x="0" y="0"/>
            <a:chExt cx="27432013" cy="2874662"/>
          </a:xfrm>
        </p:grpSpPr>
        <p:sp>
          <p:nvSpPr>
            <p:cNvPr id="107" name="Google Shape;107;p13"/>
            <p:cNvSpPr txBox="1"/>
            <p:nvPr/>
          </p:nvSpPr>
          <p:spPr>
            <a:xfrm>
              <a:off x="1933050" y="190944"/>
              <a:ext cx="23565900" cy="15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9825" tIns="79825" rIns="79825" bIns="798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700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Bedford borough WATER TREATMENT PLANT UPGRADES</a:t>
              </a:r>
              <a:endParaRPr sz="87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108" name="Google Shape;108;p13"/>
            <p:cNvSpPr txBox="1"/>
            <p:nvPr/>
          </p:nvSpPr>
          <p:spPr>
            <a:xfrm>
              <a:off x="1951450" y="1328162"/>
              <a:ext cx="23565900" cy="15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9825" tIns="79825" rIns="79825" bIns="798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5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Got Manganese?: Carmen Hagerty, Kate Hanson, Samantha Lee, Flannery McNair, Shria Shyam</a:t>
              </a:r>
              <a:endParaRPr sz="3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5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12-401: CEE Design | Profs. Sarah Christian and Fethiye Ozis | Technical Advisor: Tyler McGraw | Fall 2024</a:t>
              </a:r>
              <a:endParaRPr sz="3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We are grateful for the support of Professor Sarah Christian, Professor Fethiye Ozis, technical advisor Tyler McGraw (Stiffler McGraw), and John Whitmore (water treatment plant superintendent). </a:t>
              </a:r>
              <a:endParaRPr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09" name="Google Shape;109;p13"/>
            <p:cNvGrpSpPr/>
            <p:nvPr/>
          </p:nvGrpSpPr>
          <p:grpSpPr>
            <a:xfrm>
              <a:off x="24775812" y="0"/>
              <a:ext cx="2656200" cy="2698650"/>
              <a:chOff x="24842962" y="0"/>
              <a:chExt cx="2656200" cy="2698650"/>
            </a:xfrm>
          </p:grpSpPr>
          <p:pic>
            <p:nvPicPr>
              <p:cNvPr id="110" name="Google Shape;110;p13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24910125" y="0"/>
                <a:ext cx="2521875" cy="2531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1" name="Google Shape;111;p13"/>
              <p:cNvSpPr txBox="1"/>
              <p:nvPr/>
            </p:nvSpPr>
            <p:spPr>
              <a:xfrm>
                <a:off x="24842962" y="2513850"/>
                <a:ext cx="2656200" cy="1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0" rIns="91425" bIns="0" anchor="ctr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Scan for sources and more information.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pic>
          <p:nvPicPr>
            <p:cNvPr id="112" name="Google Shape;112;p13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0" y="0"/>
              <a:ext cx="2656200" cy="26560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3" name="Google Shape;113;p13"/>
          <p:cNvGrpSpPr/>
          <p:nvPr/>
        </p:nvGrpSpPr>
        <p:grpSpPr>
          <a:xfrm>
            <a:off x="438801" y="34020238"/>
            <a:ext cx="26554397" cy="2531700"/>
            <a:chOff x="438800" y="34020238"/>
            <a:chExt cx="26554397" cy="2531700"/>
          </a:xfrm>
        </p:grpSpPr>
        <p:grpSp>
          <p:nvGrpSpPr>
            <p:cNvPr id="114" name="Google Shape;114;p13"/>
            <p:cNvGrpSpPr/>
            <p:nvPr/>
          </p:nvGrpSpPr>
          <p:grpSpPr>
            <a:xfrm>
              <a:off x="438800" y="34020238"/>
              <a:ext cx="12344407" cy="2531700"/>
              <a:chOff x="438793" y="33910600"/>
              <a:chExt cx="12344407" cy="2531700"/>
            </a:xfrm>
          </p:grpSpPr>
          <p:sp>
            <p:nvSpPr>
              <p:cNvPr id="115" name="Google Shape;115;p13"/>
              <p:cNvSpPr txBox="1"/>
              <p:nvPr/>
            </p:nvSpPr>
            <p:spPr>
              <a:xfrm>
                <a:off x="438800" y="34872400"/>
                <a:ext cx="12344400" cy="156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914400" lvl="0" indent="-4191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Times New Roman"/>
                  <a:buChar char="●"/>
                </a:pPr>
                <a:r>
                  <a:rPr lang="en" sz="3000"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Emerging pollutants</a:t>
                </a:r>
                <a:r>
                  <a:rPr lang="en" sz="3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may require new water treatment processes.</a:t>
                </a:r>
                <a:endParaRPr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914400" lvl="0" indent="-4191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Times New Roman"/>
                  <a:buChar char="●"/>
                </a:pPr>
                <a:r>
                  <a:rPr lang="en" sz="3000"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Future water treatment regulations</a:t>
                </a:r>
                <a:r>
                  <a:rPr lang="en" sz="3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may necessitate additions.</a:t>
                </a:r>
                <a:endParaRPr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914400" lvl="0" indent="-4191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Times New Roman"/>
                  <a:buChar char="●"/>
                </a:pPr>
                <a:r>
                  <a:rPr lang="en" sz="3000"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Future maintenance </a:t>
                </a:r>
                <a:r>
                  <a:rPr lang="en" sz="3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will keep systems updated and functional.</a:t>
                </a:r>
                <a:endParaRPr sz="30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6" name="Google Shape;116;p13"/>
              <p:cNvSpPr txBox="1"/>
              <p:nvPr/>
            </p:nvSpPr>
            <p:spPr>
              <a:xfrm>
                <a:off x="438793" y="33910600"/>
                <a:ext cx="12344400" cy="961800"/>
              </a:xfrm>
              <a:prstGeom prst="rect">
                <a:avLst/>
              </a:prstGeom>
              <a:solidFill>
                <a:srgbClr val="043673"/>
              </a:solidFill>
              <a:ln>
                <a:noFill/>
              </a:ln>
            </p:spPr>
            <p:txBody>
              <a:bodyPr spcFirstLastPara="1" wrap="square" lIns="79825" tIns="79825" rIns="79825" bIns="798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200">
                    <a:solidFill>
                      <a:srgbClr val="FFFFFF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Future work</a:t>
                </a:r>
                <a:endParaRPr sz="5200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</p:grpSp>
        <p:grpSp>
          <p:nvGrpSpPr>
            <p:cNvPr id="117" name="Google Shape;117;p13"/>
            <p:cNvGrpSpPr/>
            <p:nvPr/>
          </p:nvGrpSpPr>
          <p:grpSpPr>
            <a:xfrm>
              <a:off x="14648790" y="34020238"/>
              <a:ext cx="12344407" cy="2531700"/>
              <a:chOff x="438793" y="33910600"/>
              <a:chExt cx="12344407" cy="2531700"/>
            </a:xfrm>
          </p:grpSpPr>
          <p:sp>
            <p:nvSpPr>
              <p:cNvPr id="118" name="Google Shape;118;p13"/>
              <p:cNvSpPr txBox="1"/>
              <p:nvPr/>
            </p:nvSpPr>
            <p:spPr>
              <a:xfrm>
                <a:off x="438800" y="34872400"/>
                <a:ext cx="12344400" cy="156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914400" lvl="0" indent="-4191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Times New Roman"/>
                  <a:buChar char="●"/>
                </a:pPr>
                <a:r>
                  <a:rPr lang="en" sz="3000"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Nature-based solutions</a:t>
                </a:r>
                <a:r>
                  <a:rPr lang="en" sz="3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(e.g., aeration) can help decrease chemical use.</a:t>
                </a:r>
                <a:endParaRPr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914400" lvl="0" indent="-4191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Times New Roman"/>
                  <a:buChar char="●"/>
                </a:pPr>
                <a:r>
                  <a:rPr lang="en" sz="3000"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Solar panels</a:t>
                </a:r>
                <a:r>
                  <a:rPr lang="en" sz="3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increase capital cost but decrease operational cost.</a:t>
                </a:r>
                <a:endParaRPr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914400" lvl="0" indent="-4191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Times New Roman"/>
                  <a:buChar char="●"/>
                </a:pPr>
                <a:r>
                  <a:rPr lang="en" sz="3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Pipes can follow </a:t>
                </a:r>
                <a:r>
                  <a:rPr lang="en" sz="3000"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natural slopes</a:t>
                </a:r>
                <a:r>
                  <a:rPr lang="en" sz="3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to eliminate pumping requirements.</a:t>
                </a:r>
                <a:endParaRPr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" name="Google Shape;119;p13"/>
              <p:cNvSpPr txBox="1"/>
              <p:nvPr/>
            </p:nvSpPr>
            <p:spPr>
              <a:xfrm>
                <a:off x="438793" y="33910600"/>
                <a:ext cx="12344400" cy="961800"/>
              </a:xfrm>
              <a:prstGeom prst="rect">
                <a:avLst/>
              </a:prstGeom>
              <a:solidFill>
                <a:srgbClr val="043673"/>
              </a:solidFill>
              <a:ln>
                <a:noFill/>
              </a:ln>
            </p:spPr>
            <p:txBody>
              <a:bodyPr spcFirstLastPara="1" wrap="square" lIns="79825" tIns="79825" rIns="79825" bIns="798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200">
                    <a:solidFill>
                      <a:srgbClr val="FFFFFF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LESSONS LEARNED</a:t>
                </a:r>
                <a:endParaRPr sz="5200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574</Words>
  <Application>Microsoft Macintosh PowerPoint</Application>
  <PresentationFormat>Custom</PresentationFormat>
  <Paragraphs>78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Bebas Neue</vt:lpstr>
      <vt:lpstr>Times New Roman</vt:lpstr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Flannery McNair</cp:lastModifiedBy>
  <cp:revision>1</cp:revision>
  <dcterms:modified xsi:type="dcterms:W3CDTF">2026-05-27T03:46:30Z</dcterms:modified>
</cp:coreProperties>
</file>